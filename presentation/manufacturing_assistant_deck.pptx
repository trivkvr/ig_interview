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D0B2FD-0488-4B66-B7C3-7E78A58FD3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5E03B8-2FB1-4295-BECD-BFCB34FE8F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5E3B6D5-9146-43C8-866D-6E990D89C2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F7CF622-A9F5-4CF7-9FC0-882E4A8F12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D0C59B2-5DD2-43C2-8BBD-176FBEE0CF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148781A-E7BE-44FC-A80F-08D50F8075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CE668BB-D354-4F38-8C79-C90CE79A28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0E3E2FC-6716-46D8-A063-17959EDEFBD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D7CFD91-920C-481F-899E-14979B656C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B2E354D-032B-4D91-8ADB-857E2269DF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9C1A06E7-3A83-4DAF-8B92-2F041CC147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A6A138-4C77-4A40-905C-BA38C8D38FA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5128E9-C52D-475B-9503-49669A4EE15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F41EAA-286D-4BAC-80D6-EC6797E85D6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1ADB041-80CC-403B-8831-720296429B4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D1D43D-6883-4B98-A3BF-A11672777D7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BA20C4-F390-4526-BE32-E89627B6A1F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86BEBC-D153-469D-AA11-0DDEEA0DD6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EF6975-7032-4FA5-9C5E-3C94ADA4C17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A18FF2-F2DB-4FF1-BC9F-B8D7DC3BC0B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50E6B5-319C-456E-9499-5ACB0141538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31DD5A-C298-4EC6-9B35-3BD73997658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457200" y="320040"/>
            <a:ext cx="112467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2b4d"/>
                </a:solidFill>
                <a:latin typeface="Calibri"/>
              </a:rPr>
              <a:t>Manufacturing Assistant: trusted answers in seconds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457200" y="1097280"/>
            <a:ext cx="11246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555f6b"/>
                </a:solidFill>
                <a:latin typeface="Calibri"/>
              </a:rPr>
              <a:t>Floor supervisors ask a question in plain language and get an answer with the exact source.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Rounded Rectangle 3"/>
          <p:cNvSpPr/>
          <p:nvPr/>
        </p:nvSpPr>
        <p:spPr>
          <a:xfrm>
            <a:off x="457200" y="1828800"/>
            <a:ext cx="1919880" cy="2377080"/>
          </a:xfrm>
          <a:prstGeom prst="roundRect">
            <a:avLst>
              <a:gd name="adj" fmla="val 16667"/>
            </a:avLst>
          </a:prstGeom>
          <a:solidFill>
            <a:srgbClr val="142b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1. Ask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A supervisor types a question in a simple chat window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Right Arrow 4"/>
          <p:cNvSpPr/>
          <p:nvPr/>
        </p:nvSpPr>
        <p:spPr>
          <a:xfrm>
            <a:off x="2423160" y="2862000"/>
            <a:ext cx="36540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f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Rounded Rectangle 5"/>
          <p:cNvSpPr/>
          <p:nvPr/>
        </p:nvSpPr>
        <p:spPr>
          <a:xfrm>
            <a:off x="2834640" y="1828800"/>
            <a:ext cx="1919880" cy="2377080"/>
          </a:xfrm>
          <a:prstGeom prst="roundRect">
            <a:avLst>
              <a:gd name="adj" fmla="val 16667"/>
            </a:avLst>
          </a:prstGeom>
          <a:solidFill>
            <a:srgbClr val="e07a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2. Safety check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Blocks rude language, personal data and misuse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Right Arrow 6"/>
          <p:cNvSpPr/>
          <p:nvPr/>
        </p:nvSpPr>
        <p:spPr>
          <a:xfrm>
            <a:off x="4800600" y="2862000"/>
            <a:ext cx="36540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f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Rounded Rectangle 7"/>
          <p:cNvSpPr/>
          <p:nvPr/>
        </p:nvSpPr>
        <p:spPr>
          <a:xfrm>
            <a:off x="5212080" y="1828800"/>
            <a:ext cx="1919880" cy="2377080"/>
          </a:xfrm>
          <a:prstGeom prst="roundRect">
            <a:avLst>
              <a:gd name="adj" fmla="val 16667"/>
            </a:avLst>
          </a:prstGeom>
          <a:solidFill>
            <a:srgbClr val="1f7a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3. Smart routing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The assistant works out which documents hold the answer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Right Arrow 8"/>
          <p:cNvSpPr/>
          <p:nvPr/>
        </p:nvSpPr>
        <p:spPr>
          <a:xfrm>
            <a:off x="7178040" y="2862000"/>
            <a:ext cx="36540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f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Rounded Rectangle 9"/>
          <p:cNvSpPr/>
          <p:nvPr/>
        </p:nvSpPr>
        <p:spPr>
          <a:xfrm>
            <a:off x="7589520" y="1828800"/>
            <a:ext cx="2102760" cy="731160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Safety procedures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Rounded Rectangle 10"/>
          <p:cNvSpPr/>
          <p:nvPr/>
        </p:nvSpPr>
        <p:spPr>
          <a:xfrm>
            <a:off x="7589520" y="2651760"/>
            <a:ext cx="2102760" cy="731160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Maintenance manuals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Rounded Rectangle 11"/>
          <p:cNvSpPr/>
          <p:nvPr/>
        </p:nvSpPr>
        <p:spPr>
          <a:xfrm>
            <a:off x="7589520" y="3474720"/>
            <a:ext cx="2102760" cy="731160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Quality standards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7589520" y="4297680"/>
            <a:ext cx="2102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5f6b"/>
                </a:solidFill>
                <a:latin typeface="Calibri"/>
              </a:rPr>
              <a:t>Our document libraries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ight Arrow 13"/>
          <p:cNvSpPr/>
          <p:nvPr/>
        </p:nvSpPr>
        <p:spPr>
          <a:xfrm>
            <a:off x="9738360" y="2862000"/>
            <a:ext cx="36540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f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Rounded Rectangle 14"/>
          <p:cNvSpPr/>
          <p:nvPr/>
        </p:nvSpPr>
        <p:spPr>
          <a:xfrm>
            <a:off x="10149840" y="1828800"/>
            <a:ext cx="1599840" cy="2377080"/>
          </a:xfrm>
          <a:prstGeom prst="roundRect">
            <a:avLst>
              <a:gd name="adj" fmla="val 16667"/>
            </a:avLst>
          </a:prstGeom>
          <a:solidFill>
            <a:srgbClr val="142b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4. Answer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Clear reply plus a clickable link to the exact page and section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Rounded Rectangle 15"/>
          <p:cNvSpPr/>
          <p:nvPr/>
        </p:nvSpPr>
        <p:spPr>
          <a:xfrm>
            <a:off x="457200" y="4754880"/>
            <a:ext cx="2697120" cy="1462680"/>
          </a:xfrm>
          <a:prstGeom prst="roundRect">
            <a:avLst>
              <a:gd name="adj" fmla="val 16667"/>
            </a:avLst>
          </a:prstGeom>
          <a:solidFill>
            <a:srgbClr val="eef3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16"/>
          <p:cNvSpPr/>
          <p:nvPr/>
        </p:nvSpPr>
        <p:spPr>
          <a:xfrm>
            <a:off x="548640" y="4846320"/>
            <a:ext cx="2514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f7a8c"/>
                </a:solidFill>
                <a:latin typeface="Calibri"/>
              </a:rPr>
              <a:t>Faster answers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17"/>
          <p:cNvSpPr/>
          <p:nvPr/>
        </p:nvSpPr>
        <p:spPr>
          <a:xfrm>
            <a:off x="548640" y="5257800"/>
            <a:ext cx="2514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42b4d"/>
                </a:solidFill>
                <a:latin typeface="Calibri"/>
              </a:rPr>
              <a:t>No more searching through binders and shared drives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ounded Rectangle 18"/>
          <p:cNvSpPr/>
          <p:nvPr/>
        </p:nvSpPr>
        <p:spPr>
          <a:xfrm>
            <a:off x="3291840" y="4754880"/>
            <a:ext cx="2697120" cy="1462680"/>
          </a:xfrm>
          <a:prstGeom prst="roundRect">
            <a:avLst>
              <a:gd name="adj" fmla="val 16667"/>
            </a:avLst>
          </a:prstGeom>
          <a:solidFill>
            <a:srgbClr val="eef3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19"/>
          <p:cNvSpPr/>
          <p:nvPr/>
        </p:nvSpPr>
        <p:spPr>
          <a:xfrm>
            <a:off x="3383280" y="4846320"/>
            <a:ext cx="2514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f7a8c"/>
                </a:solidFill>
                <a:latin typeface="Calibri"/>
              </a:rPr>
              <a:t>Trustworthy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20"/>
          <p:cNvSpPr/>
          <p:nvPr/>
        </p:nvSpPr>
        <p:spPr>
          <a:xfrm>
            <a:off x="3383280" y="5257800"/>
            <a:ext cx="2514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42b4d"/>
                </a:solidFill>
                <a:latin typeface="Calibri"/>
              </a:rPr>
              <a:t>Every answer shows its source, so it can be verified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ounded Rectangle 21"/>
          <p:cNvSpPr/>
          <p:nvPr/>
        </p:nvSpPr>
        <p:spPr>
          <a:xfrm>
            <a:off x="6126480" y="4754880"/>
            <a:ext cx="2697120" cy="1462680"/>
          </a:xfrm>
          <a:prstGeom prst="roundRect">
            <a:avLst>
              <a:gd name="adj" fmla="val 16667"/>
            </a:avLst>
          </a:prstGeom>
          <a:solidFill>
            <a:srgbClr val="eef3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22"/>
          <p:cNvSpPr/>
          <p:nvPr/>
        </p:nvSpPr>
        <p:spPr>
          <a:xfrm>
            <a:off x="6217920" y="4846320"/>
            <a:ext cx="2514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f7a8c"/>
                </a:solidFill>
                <a:latin typeface="Calibri"/>
              </a:rPr>
              <a:t>Safe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23"/>
          <p:cNvSpPr/>
          <p:nvPr/>
        </p:nvSpPr>
        <p:spPr>
          <a:xfrm>
            <a:off x="6217920" y="5257800"/>
            <a:ext cx="25142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42b4d"/>
                </a:solidFill>
                <a:latin typeface="Calibri"/>
              </a:rPr>
              <a:t>Inappropriate or personal content is stopped before it is processed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ounded Rectangle 24"/>
          <p:cNvSpPr/>
          <p:nvPr/>
        </p:nvSpPr>
        <p:spPr>
          <a:xfrm>
            <a:off x="8961120" y="4754880"/>
            <a:ext cx="2697120" cy="1462680"/>
          </a:xfrm>
          <a:prstGeom prst="roundRect">
            <a:avLst>
              <a:gd name="adj" fmla="val 16667"/>
            </a:avLst>
          </a:prstGeom>
          <a:solidFill>
            <a:srgbClr val="eef3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25"/>
          <p:cNvSpPr/>
          <p:nvPr/>
        </p:nvSpPr>
        <p:spPr>
          <a:xfrm>
            <a:off x="9052560" y="4846320"/>
            <a:ext cx="2514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f7a8c"/>
                </a:solidFill>
                <a:latin typeface="Calibri"/>
              </a:rPr>
              <a:t>Easy to review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26"/>
          <p:cNvSpPr/>
          <p:nvPr/>
        </p:nvSpPr>
        <p:spPr>
          <a:xfrm>
            <a:off x="9052560" y="5257800"/>
            <a:ext cx="2514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42b4d"/>
                </a:solidFill>
                <a:latin typeface="Calibri"/>
              </a:rPr>
              <a:t>Every conversation is recorded for quality and audit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2026-10-09T15:42:18Z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